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entation.xml" ContentType="application/vnd.openxmlformats-officedocument.presentationml.presentation.main+xml"/>
  <Override PartName="/ppt/slides/slide16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50" r:id="rId1"/>
  </p:sldMasterIdLst>
  <p:notesMasterIdLst>
    <p:notesMasterId r:id="rId18"/>
  </p:notesMasterIdLst>
  <p:sldIdLst>
    <p:sldId id="257" r:id="rId2"/>
    <p:sldId id="280" r:id="rId3"/>
    <p:sldId id="258" r:id="rId4"/>
    <p:sldId id="281" r:id="rId5"/>
    <p:sldId id="263" r:id="rId6"/>
    <p:sldId id="260" r:id="rId7"/>
    <p:sldId id="261" r:id="rId8"/>
    <p:sldId id="294" r:id="rId9"/>
    <p:sldId id="265" r:id="rId10"/>
    <p:sldId id="266" r:id="rId11"/>
    <p:sldId id="286" r:id="rId12"/>
    <p:sldId id="267" r:id="rId13"/>
    <p:sldId id="293" r:id="rId14"/>
    <p:sldId id="277" r:id="rId15"/>
    <p:sldId id="284" r:id="rId16"/>
    <p:sldId id="279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9883" autoAdjust="0"/>
  </p:normalViewPr>
  <p:slideViewPr>
    <p:cSldViewPr>
      <p:cViewPr varScale="1">
        <p:scale>
          <a:sx n="73" d="100"/>
          <a:sy n="73" d="100"/>
        </p:scale>
        <p:origin x="1094" y="67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customXml" Target="../customXml/item4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3074" name="AutoShape 2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3075" name="AutoShape 3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3076" name="AutoShape 4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3077" name="AutoShape 5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3078" name="AutoShape 6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3079" name="AutoShape 7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3080" name="AutoShape 8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3081" name="AutoShape 9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3082" name="AutoShape 10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3083" name="AutoShape 1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3084" name="AutoShape 12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3085" name="AutoShape 13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3086" name="AutoShape 14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3087" name="AutoShape 15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3088" name="AutoShape 16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3089" name="AutoShape 17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3090" name="AutoShape 18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3091" name="AutoShape 19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3092" name="AutoShape 20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3093" name="AutoShape 2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3094" name="AutoShape 22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3095" name="AutoShape 23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3096" name="AutoShape 24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3097" name="AutoShape 25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3098" name="Rectangle 26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2932113" cy="4191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lnSpc>
                <a:spcPct val="93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99" name="Rectangle 27"/>
          <p:cNvSpPr>
            <a:spLocks noGrp="1" noChangeArrowheads="1"/>
          </p:cNvSpPr>
          <p:nvPr>
            <p:ph type="dt"/>
          </p:nvPr>
        </p:nvSpPr>
        <p:spPr bwMode="auto">
          <a:xfrm>
            <a:off x="3886200" y="0"/>
            <a:ext cx="2932113" cy="4191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93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4845" name="Rectangle 28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32313" cy="33909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sp>
      <p:sp>
        <p:nvSpPr>
          <p:cNvPr id="3101" name="Rectangle 29"/>
          <p:cNvSpPr>
            <a:spLocks noGrp="1" noChangeArrowheads="1"/>
          </p:cNvSpPr>
          <p:nvPr>
            <p:ph type="body"/>
          </p:nvPr>
        </p:nvSpPr>
        <p:spPr bwMode="auto">
          <a:xfrm>
            <a:off x="914400" y="4343400"/>
            <a:ext cx="4989513" cy="40767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3102" name="Rectangle 30"/>
          <p:cNvSpPr>
            <a:spLocks noGrp="1" noChangeArrowheads="1"/>
          </p:cNvSpPr>
          <p:nvPr>
            <p:ph type="ftr"/>
          </p:nvPr>
        </p:nvSpPr>
        <p:spPr bwMode="auto">
          <a:xfrm>
            <a:off x="0" y="8686800"/>
            <a:ext cx="2932113" cy="4191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lnSpc>
                <a:spcPct val="93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103" name="Rectangle 31"/>
          <p:cNvSpPr>
            <a:spLocks noGrp="1" noChangeArrowheads="1"/>
          </p:cNvSpPr>
          <p:nvPr>
            <p:ph type="sldNum"/>
          </p:nvPr>
        </p:nvSpPr>
        <p:spPr bwMode="auto">
          <a:xfrm>
            <a:off x="3886200" y="8686800"/>
            <a:ext cx="2932113" cy="4191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93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4DD385D4-4E6D-4943-BA13-0F29348E25E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0542CF9D-41B2-4EE5-886E-32E52BF08286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36867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4991100" cy="4079875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3CCD7B4B-E8BB-4F81-8E67-284ECFD6BA4F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37891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892" name="Rectangle 2"/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4991100" cy="4079875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1B04B7D4-7ED3-46FC-8F10-F3E25FD0C651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38915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8916" name="Rectangle 2"/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4991100" cy="4079875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04AEC06D-1474-495E-B512-46D68FD1D50B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39939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40" name="Rectangle 2"/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4991100" cy="4079875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598CB6FE-1CDE-49BD-A878-CED50925A517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44035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36" name="Rectangle 2"/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4991100" cy="4079875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D64C3819-5D26-461A-AA92-513407B777CA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41987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988" name="Rectangle 2"/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4991100" cy="4079875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0FE3E961-F0B6-4B38-AC74-23F57CC9BCEA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43011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12" name="Rectangle 2"/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4991100" cy="4079875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1609AF08-83D9-4B8F-B5BE-DDF2E8C330C8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40963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64" name="Rectangle 2"/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4991100" cy="4079875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9672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3B2CF362-E287-464C-B6B1-490CD1D38D4C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45059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60" name="Rectangle 2"/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4991100" cy="4079875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8FF3F350-0C9A-4D6B-8C99-15EDE6C23DC9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46083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084" name="Rectangle 2"/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4991100" cy="4079875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95717383-9CF8-4C31-B584-073771E1FB0A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47107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08" name="Rectangle 2"/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4991100" cy="4079875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E8D75862-9E05-4187-80D6-DAC5AE515533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48131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32" name="Rectangle 2"/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4991100" cy="4079875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E8D75862-9E05-4187-80D6-DAC5AE515533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48131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32" name="Rectangle 2"/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4991100" cy="4079875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614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CE3D155D-BA89-4E3B-A3CB-C2E6BE18A919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57347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48" name="Rectangle 2"/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4991100" cy="4079875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3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A7395FD2-22F6-4469-AA43-9719AE13031D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58371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72" name="Rectangle 2"/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4991100" cy="4079875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ED3FBC80-0939-4388-ACE4-B051FF1855F1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64515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4516" name="Rectangle 2"/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4991100" cy="4079875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Oracle Confidential Restricted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320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Oracle Confidential Restricted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3F4F-51B2-42EE-AFA2-40C4572185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828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Oracle Confidential Restricted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278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Oracle Confidential Restricted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461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Oracle Confidential Restricted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913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Oracle Confidential Restricted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750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Oracle Confidential Restricted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455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Oracle Confidential Restricted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241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Oracle Confidential Restricted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429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Oracle Confidential Restricted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679573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Oracle Confidential Restricted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68466592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Oracle Confidential Restricted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74972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Oracle Confidential Restricted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18189637"/>
      </p:ext>
    </p:extLst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Oracle Confidential Restricted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604352"/>
      </p:ext>
    </p:extLst>
  </p:cSld>
  <p:clrMapOvr>
    <a:masterClrMapping/>
  </p:clrMapOvr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Oracle Confidential Restricted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8976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Oracle Confidential Restricted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2282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800600"/>
            <a:ext cx="7732713" cy="8207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9436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Oracle Confidential Restricted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F97FFE-0D57-6D2D-2568-F6D2906105B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6367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Confidential - Oracle Restricted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A83A37-9421-AB50-DD12-0C30507C877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6367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Confidential - Oracle Restricted</a:t>
            </a:r>
          </a:p>
        </p:txBody>
      </p:sp>
    </p:spTree>
    <p:extLst>
      <p:ext uri="{BB962C8B-B14F-4D97-AF65-F5344CB8AC3E}">
        <p14:creationId xmlns:p14="http://schemas.microsoft.com/office/powerpoint/2010/main" val="4225530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 noGrp="1" noChangeArrowheads="1"/>
          </p:cNvSpPr>
          <p:nvPr>
            <p:ph type="title"/>
          </p:nvPr>
        </p:nvSpPr>
        <p:spPr>
          <a:xfrm>
            <a:off x="5959900" y="304800"/>
            <a:ext cx="2746628" cy="496720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buClr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Advanced Quality Planning (AQP)</a:t>
            </a:r>
            <a:b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Training</a:t>
            </a:r>
            <a:b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1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Oracle Confidential Restricted</a:t>
            </a:r>
          </a:p>
        </p:txBody>
      </p:sp>
      <p:pic>
        <p:nvPicPr>
          <p:cNvPr id="4099" name="Picture 2" descr="A close-up of a glass building&#10;&#10;Description automatically generated with low confidence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540502" y="640081"/>
            <a:ext cx="5054156" cy="5054156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1"/>
          <p:cNvSpPr txBox="1">
            <a:spLocks noChangeArrowheads="1"/>
          </p:cNvSpPr>
          <p:nvPr/>
        </p:nvSpPr>
        <p:spPr bwMode="auto">
          <a:xfrm>
            <a:off x="812800" y="1919288"/>
            <a:ext cx="180975" cy="6111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60840" rIns="90000" bIns="46800">
            <a:spAutoFit/>
          </a:bodyPr>
          <a:lstStyle/>
          <a:p>
            <a:pPr>
              <a:lnSpc>
                <a:spcPct val="93000"/>
              </a:lnSpc>
              <a:spcBef>
                <a:spcPts val="40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1600" b="1">
              <a:solidFill>
                <a:srgbClr val="000000"/>
              </a:solidFill>
              <a:latin typeface="Arial" charset="0"/>
            </a:endParaRPr>
          </a:p>
          <a:p>
            <a:pPr>
              <a:lnSpc>
                <a:spcPct val="93000"/>
              </a:lnSpc>
              <a:spcBef>
                <a:spcPts val="40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1600" b="1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889000" y="304800"/>
            <a:ext cx="7581900" cy="976313"/>
          </a:xfrm>
        </p:spPr>
        <p:txBody>
          <a:bodyPr tIns="28080" anchor="t"/>
          <a:lstStyle/>
          <a:p>
            <a:pPr eaLnBrk="1" hangingPunct="1">
              <a:lnSpc>
                <a:spcPct val="93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/>
              <a:t>Advanced Quality Planning (AQP)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568325" y="1079500"/>
            <a:ext cx="8070850" cy="4651375"/>
          </a:xfrm>
        </p:spPr>
        <p:txBody>
          <a:bodyPr tIns="29520"/>
          <a:lstStyle/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800" dirty="0"/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1800" dirty="0"/>
              <a:t>This presentation</a:t>
            </a:r>
          </a:p>
          <a:p>
            <a:pPr indent="-311150" eaLnBrk="1" hangingPunct="1">
              <a:spcBef>
                <a:spcPts val="50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800" dirty="0"/>
          </a:p>
          <a:p>
            <a:pPr indent="-311150" eaLnBrk="1" hangingPunct="1">
              <a:spcBef>
                <a:spcPts val="50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1800" dirty="0"/>
              <a:t>-   provides an overview of the AQP purpose and benefits</a:t>
            </a:r>
          </a:p>
          <a:p>
            <a:pPr indent="-311150" eaLnBrk="1" hangingPunct="1">
              <a:spcBef>
                <a:spcPts val="50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800" dirty="0"/>
          </a:p>
          <a:p>
            <a:pPr indent="-311150" eaLnBrk="1" hangingPunct="1">
              <a:spcBef>
                <a:spcPts val="50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1800" dirty="0"/>
              <a:t>-    explains where the AQP is addressed in contractual documents</a:t>
            </a:r>
          </a:p>
          <a:p>
            <a:pPr indent="-311150" eaLnBrk="1" hangingPunct="1">
              <a:spcBef>
                <a:spcPts val="50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800" dirty="0"/>
          </a:p>
          <a:p>
            <a:pPr indent="-311150" eaLnBrk="1" hangingPunct="1">
              <a:spcBef>
                <a:spcPts val="500"/>
              </a:spcBef>
              <a:buClrTx/>
              <a:buFontTx/>
              <a:buChar char="-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1800" dirty="0"/>
              <a:t>indicates how to access the AQP documentation</a:t>
            </a:r>
          </a:p>
          <a:p>
            <a:pPr indent="-311150" eaLnBrk="1" hangingPunct="1">
              <a:spcBef>
                <a:spcPts val="500"/>
              </a:spcBef>
              <a:buClrTx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800" dirty="0"/>
          </a:p>
          <a:p>
            <a:pPr marL="31750" indent="0" eaLnBrk="1" hangingPunct="1">
              <a:spcBef>
                <a:spcPts val="500"/>
              </a:spcBef>
              <a:buClr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1800" dirty="0"/>
              <a:t>-   </a:t>
            </a:r>
            <a:r>
              <a:rPr lang="en-GB" dirty="0"/>
              <a:t>d</a:t>
            </a:r>
            <a:r>
              <a:rPr lang="en-GB" sz="1800" dirty="0"/>
              <a:t>escribes how document change notifications are sent</a:t>
            </a:r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3F2B363-652E-4409-8A32-14B2B9ED8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Oracle Confidential Restricted</a:t>
            </a:r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"/>
          <p:cNvSpPr txBox="1">
            <a:spLocks noChangeArrowheads="1"/>
          </p:cNvSpPr>
          <p:nvPr/>
        </p:nvSpPr>
        <p:spPr bwMode="auto">
          <a:xfrm>
            <a:off x="812800" y="1919288"/>
            <a:ext cx="180975" cy="6111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60840" rIns="90000" bIns="46800">
            <a:spAutoFit/>
          </a:bodyPr>
          <a:lstStyle/>
          <a:p>
            <a:pPr>
              <a:lnSpc>
                <a:spcPct val="93000"/>
              </a:lnSpc>
              <a:spcBef>
                <a:spcPts val="40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1600" b="1">
              <a:solidFill>
                <a:srgbClr val="000000"/>
              </a:solidFill>
              <a:latin typeface="Arial" charset="0"/>
            </a:endParaRPr>
          </a:p>
          <a:p>
            <a:pPr>
              <a:lnSpc>
                <a:spcPct val="93000"/>
              </a:lnSpc>
              <a:spcBef>
                <a:spcPts val="40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1600" b="1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889000" y="304800"/>
            <a:ext cx="7581900" cy="976313"/>
          </a:xfrm>
        </p:spPr>
        <p:txBody>
          <a:bodyPr tIns="28080" anchor="t"/>
          <a:lstStyle/>
          <a:p>
            <a:pPr eaLnBrk="1" hangingPunct="1">
              <a:lnSpc>
                <a:spcPct val="93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/>
              <a:t>Advanced Quality Planning (AQP)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idx="1"/>
          </p:nvPr>
        </p:nvSpPr>
        <p:spPr>
          <a:xfrm>
            <a:off x="568325" y="1079500"/>
            <a:ext cx="8070850" cy="4651375"/>
          </a:xfrm>
        </p:spPr>
        <p:txBody>
          <a:bodyPr tIns="29520">
            <a:normAutofit fontScale="92500" lnSpcReduction="20000"/>
          </a:bodyPr>
          <a:lstStyle/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800" dirty="0"/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800" dirty="0"/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1800" dirty="0"/>
              <a:t>The purpose of the Advanced Quality Plan (AQP) is to provide consistent, comprehensive quality requirements to Oracle's Suppliers. </a:t>
            </a:r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800" dirty="0"/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1800" dirty="0"/>
              <a:t>AQP provides offers a structured process for change notification, and a </a:t>
            </a:r>
            <a:r>
              <a:rPr lang="en-GB" sz="1800" dirty="0">
                <a:solidFill>
                  <a:schemeClr val="tx1"/>
                </a:solidFill>
              </a:rPr>
              <a:t>controlled vehicle for Supplier response</a:t>
            </a:r>
            <a:r>
              <a:rPr lang="en-GB" sz="1800" dirty="0">
                <a:solidFill>
                  <a:srgbClr val="0000FF"/>
                </a:solidFill>
              </a:rPr>
              <a:t> </a:t>
            </a:r>
            <a:r>
              <a:rPr lang="en-GB" sz="1800" dirty="0"/>
              <a:t>when Oracle's requirements change.</a:t>
            </a:r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800" dirty="0"/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1800" dirty="0"/>
              <a:t>Quality and other requirements applicable to a specific supplier type are listed in the Advanced Quality Planning matrix. </a:t>
            </a:r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800" dirty="0"/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1800" dirty="0"/>
              <a:t>The AQP is referenced in the Supplier's Master Supply Agreement and invoked for specific products via the Product Award Letter. </a:t>
            </a:r>
            <a:endParaRPr lang="en-GB" sz="1400" dirty="0"/>
          </a:p>
          <a:p>
            <a:pPr lvl="1"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800" dirty="0"/>
          </a:p>
          <a:p>
            <a:pPr lvl="1"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1800" dirty="0"/>
              <a:t>.</a:t>
            </a:r>
            <a:endParaRPr lang="en-GB" sz="1400" dirty="0"/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B2F44E-112C-42CC-9B96-E1CAA0666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Oracle Confidential Restricted</a:t>
            </a:r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/>
          <p:cNvSpPr txBox="1">
            <a:spLocks noChangeArrowheads="1"/>
          </p:cNvSpPr>
          <p:nvPr/>
        </p:nvSpPr>
        <p:spPr bwMode="auto">
          <a:xfrm>
            <a:off x="812800" y="1919288"/>
            <a:ext cx="180975" cy="6111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60840" rIns="90000" bIns="46800">
            <a:spAutoFit/>
          </a:bodyPr>
          <a:lstStyle/>
          <a:p>
            <a:pPr>
              <a:lnSpc>
                <a:spcPct val="93000"/>
              </a:lnSpc>
              <a:spcBef>
                <a:spcPts val="40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1600" b="1">
              <a:solidFill>
                <a:srgbClr val="000000"/>
              </a:solidFill>
              <a:latin typeface="Arial" charset="0"/>
            </a:endParaRPr>
          </a:p>
          <a:p>
            <a:pPr>
              <a:lnSpc>
                <a:spcPct val="93000"/>
              </a:lnSpc>
              <a:spcBef>
                <a:spcPts val="40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1600" b="1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889000" y="304800"/>
            <a:ext cx="7581900" cy="976313"/>
          </a:xfrm>
        </p:spPr>
        <p:txBody>
          <a:bodyPr tIns="28080" anchor="t"/>
          <a:lstStyle/>
          <a:p>
            <a:pPr eaLnBrk="1" hangingPunct="1">
              <a:lnSpc>
                <a:spcPct val="93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/>
              <a:t>Advanced Quality Planning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239838"/>
            <a:ext cx="7954963" cy="4343400"/>
          </a:xfrm>
        </p:spPr>
        <p:txBody>
          <a:bodyPr tIns="15840"/>
          <a:lstStyle/>
          <a:p>
            <a:pPr indent="-311150" eaLnBrk="1" hangingPunct="1">
              <a:spcBef>
                <a:spcPts val="50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800" dirty="0"/>
          </a:p>
          <a:p>
            <a:pPr indent="-311150" eaLnBrk="1" hangingPunct="1">
              <a:spcBef>
                <a:spcPts val="50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800" dirty="0"/>
          </a:p>
          <a:p>
            <a:pPr indent="-311150" eaLnBrk="1" hangingPunct="1">
              <a:lnSpc>
                <a:spcPct val="93000"/>
              </a:lnSpc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1800" dirty="0"/>
              <a:t>  Requirements in the AQP are generic and broadly applicable to</a:t>
            </a:r>
          </a:p>
          <a:p>
            <a:pPr indent="-311150" eaLnBrk="1" hangingPunct="1">
              <a:lnSpc>
                <a:spcPct val="93000"/>
              </a:lnSpc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1800" dirty="0"/>
              <a:t> specified </a:t>
            </a:r>
            <a:r>
              <a:rPr lang="en-GB" sz="1800" dirty="0">
                <a:solidFill>
                  <a:schemeClr val="tx1"/>
                </a:solidFill>
              </a:rPr>
              <a:t>process</a:t>
            </a:r>
            <a:r>
              <a:rPr lang="en-GB" sz="1800" dirty="0">
                <a:solidFill>
                  <a:srgbClr val="0000FF"/>
                </a:solidFill>
              </a:rPr>
              <a:t> </a:t>
            </a:r>
            <a:r>
              <a:rPr lang="en-GB" sz="1800" dirty="0"/>
              <a:t>categories</a:t>
            </a:r>
          </a:p>
          <a:p>
            <a:pPr indent="-311150" eaLnBrk="1" hangingPunct="1">
              <a:lnSpc>
                <a:spcPct val="93000"/>
              </a:lnSpc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800" dirty="0"/>
          </a:p>
          <a:p>
            <a:pPr indent="-311150" eaLnBrk="1" hangingPunct="1">
              <a:lnSpc>
                <a:spcPct val="93000"/>
              </a:lnSpc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1800" dirty="0">
                <a:solidFill>
                  <a:schemeClr val="tx1"/>
                </a:solidFill>
              </a:rPr>
              <a:t>  The AQP specifications will not contain product-specific changes. </a:t>
            </a:r>
          </a:p>
          <a:p>
            <a:pPr indent="-311150" eaLnBrk="1" hangingPunct="1">
              <a:lnSpc>
                <a:spcPct val="93000"/>
              </a:lnSpc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800" dirty="0">
              <a:solidFill>
                <a:schemeClr val="tx1"/>
              </a:solidFill>
            </a:endParaRPr>
          </a:p>
          <a:p>
            <a:pPr indent="-311150" eaLnBrk="1" hangingPunct="1">
              <a:lnSpc>
                <a:spcPct val="93000"/>
              </a:lnSpc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dirty="0">
                <a:solidFill>
                  <a:schemeClr val="tx1"/>
                </a:solidFill>
              </a:rPr>
              <a:t> The item and BOM ECO process is the process used to communicate specific product changes</a:t>
            </a:r>
            <a:r>
              <a:rPr lang="en-GB" dirty="0">
                <a:solidFill>
                  <a:srgbClr val="0000FF"/>
                </a:solidFill>
              </a:rPr>
              <a:t>.</a:t>
            </a:r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600" dirty="0">
              <a:solidFill>
                <a:srgbClr val="0000FF"/>
              </a:solidFill>
            </a:endParaRPr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6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21E4B9B-FF6F-4CFC-8EC6-3430873A3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Oracle Confidential Restricted</a:t>
            </a:r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812800" y="1919288"/>
            <a:ext cx="180975" cy="6111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60840" rIns="90000" bIns="46800">
            <a:spAutoFit/>
          </a:bodyPr>
          <a:lstStyle/>
          <a:p>
            <a:pPr>
              <a:lnSpc>
                <a:spcPct val="93000"/>
              </a:lnSpc>
              <a:spcBef>
                <a:spcPts val="40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1600" b="1">
              <a:solidFill>
                <a:srgbClr val="000000"/>
              </a:solidFill>
              <a:latin typeface="Arial" charset="0"/>
            </a:endParaRPr>
          </a:p>
          <a:p>
            <a:pPr>
              <a:lnSpc>
                <a:spcPct val="93000"/>
              </a:lnSpc>
              <a:spcBef>
                <a:spcPts val="40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1600" b="1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title"/>
          </p:nvPr>
        </p:nvSpPr>
        <p:spPr>
          <a:xfrm>
            <a:off x="889000" y="304800"/>
            <a:ext cx="7581900" cy="976313"/>
          </a:xfrm>
        </p:spPr>
        <p:txBody>
          <a:bodyPr tIns="28080" anchor="t"/>
          <a:lstStyle/>
          <a:p>
            <a:pPr eaLnBrk="1" hangingPunct="1">
              <a:lnSpc>
                <a:spcPct val="93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/>
              <a:t>The AQP matrix – 913-3592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D2F904-2453-49DF-97E5-4E99EB55F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6046156"/>
            <a:ext cx="4622973" cy="365125"/>
          </a:xfrm>
        </p:spPr>
        <p:txBody>
          <a:bodyPr/>
          <a:lstStyle/>
          <a:p>
            <a:r>
              <a:rPr lang="en-US" dirty="0"/>
              <a:t>Oracle Confidential Restricted</a:t>
            </a: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381000" y="914400"/>
            <a:ext cx="8153400" cy="46480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104040" rIns="90000" bIns="45000"/>
          <a:lstStyle/>
          <a:p>
            <a:pPr hangingPunct="0">
              <a:lnSpc>
                <a:spcPct val="74000"/>
              </a:lnSpc>
              <a:spcBef>
                <a:spcPts val="725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  <a:tab pos="12306300" algn="l"/>
              </a:tabLst>
            </a:pPr>
            <a:r>
              <a:rPr lang="en-GB" sz="1800" dirty="0">
                <a:solidFill>
                  <a:srgbClr val="000000"/>
                </a:solidFill>
                <a:latin typeface="Arial" charset="0"/>
              </a:rPr>
              <a:t>The AQP matrix contains the supplier type and the list of AQP specifications</a:t>
            </a:r>
          </a:p>
          <a:p>
            <a:pPr hangingPunct="0">
              <a:lnSpc>
                <a:spcPct val="74000"/>
              </a:lnSpc>
              <a:spcBef>
                <a:spcPts val="725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  <a:tab pos="12306300" algn="l"/>
              </a:tabLst>
            </a:pPr>
            <a:r>
              <a:rPr lang="en-GB" sz="1800" dirty="0">
                <a:solidFill>
                  <a:srgbClr val="000000"/>
                </a:solidFill>
                <a:latin typeface="Arial" charset="0"/>
              </a:rPr>
              <a:t> </a:t>
            </a:r>
          </a:p>
        </p:txBody>
      </p:sp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793750" y="1409700"/>
            <a:ext cx="77724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110520" rIns="90000" bIns="45000"/>
          <a:lstStyle/>
          <a:p>
            <a:pPr hangingPunct="0">
              <a:lnSpc>
                <a:spcPct val="74000"/>
              </a:lnSpc>
              <a:spcBef>
                <a:spcPts val="725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dirty="0">
                <a:solidFill>
                  <a:schemeClr val="tx1"/>
                </a:solidFill>
                <a:latin typeface="Arial" charset="0"/>
              </a:rPr>
              <a:t>Supplier Type is specified in Product Award letter (PAL)</a:t>
            </a:r>
          </a:p>
        </p:txBody>
      </p:sp>
      <p:pic>
        <p:nvPicPr>
          <p:cNvPr id="11270" name="Picture 15" descr="matrix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" y="1890713"/>
            <a:ext cx="8686800" cy="279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271" name="Straight Arrow Connector 24"/>
          <p:cNvCxnSpPr>
            <a:cxnSpLocks noChangeShapeType="1"/>
          </p:cNvCxnSpPr>
          <p:nvPr/>
        </p:nvCxnSpPr>
        <p:spPr bwMode="auto">
          <a:xfrm>
            <a:off x="6705600" y="1981200"/>
            <a:ext cx="1219200" cy="1600200"/>
          </a:xfrm>
          <a:prstGeom prst="straightConnector1">
            <a:avLst/>
          </a:prstGeom>
          <a:noFill/>
          <a:ln w="1587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11272" name="Rectangle 27"/>
          <p:cNvSpPr>
            <a:spLocks noChangeArrowheads="1"/>
          </p:cNvSpPr>
          <p:nvPr/>
        </p:nvSpPr>
        <p:spPr bwMode="auto">
          <a:xfrm>
            <a:off x="802290" y="4951415"/>
            <a:ext cx="6438900" cy="338554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00FF"/>
                </a:solidFill>
              </a:rPr>
              <a:t>An X  indicates the supplier must comply with the specification</a:t>
            </a:r>
            <a:endParaRPr lang="en-US" sz="1600" dirty="0"/>
          </a:p>
        </p:txBody>
      </p:sp>
      <p:cxnSp>
        <p:nvCxnSpPr>
          <p:cNvPr id="29" name="Straight Arrow Connector 28"/>
          <p:cNvCxnSpPr/>
          <p:nvPr/>
        </p:nvCxnSpPr>
        <p:spPr bwMode="auto">
          <a:xfrm flipV="1">
            <a:off x="7010400" y="4800600"/>
            <a:ext cx="914400" cy="609600"/>
          </a:xfrm>
          <a:prstGeom prst="straightConnector1">
            <a:avLst/>
          </a:prstGeom>
          <a:solidFill>
            <a:srgbClr val="00B8FF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blurRad="50800" dist="50800" dir="5400000" sx="106000" sy="106000" algn="ctr" rotWithShape="0">
              <a:schemeClr val="bg1"/>
            </a:outerShdw>
          </a:effectLst>
        </p:spPr>
      </p:cxnSp>
      <p:sp>
        <p:nvSpPr>
          <p:cNvPr id="10" name="TextBox 9"/>
          <p:cNvSpPr txBox="1"/>
          <p:nvPr/>
        </p:nvSpPr>
        <p:spPr>
          <a:xfrm>
            <a:off x="609600" y="5486400"/>
            <a:ext cx="800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2">
                    <a:lumMod val="95000"/>
                    <a:lumOff val="5000"/>
                  </a:schemeClr>
                </a:solidFill>
                <a:latin typeface="+mn-lt"/>
              </a:rPr>
              <a:t>NOTE</a:t>
            </a:r>
            <a:r>
              <a:rPr lang="en-US" sz="12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+mn-lt"/>
              </a:rPr>
              <a:t>Oracle Supplier Management may add or exempt specific requirements.  Any additions or exemptions to the assigned supplier type will be noted in the contract documentation. 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1"/>
          <p:cNvSpPr txBox="1">
            <a:spLocks noChangeArrowheads="1"/>
          </p:cNvSpPr>
          <p:nvPr/>
        </p:nvSpPr>
        <p:spPr bwMode="auto">
          <a:xfrm>
            <a:off x="812800" y="1919288"/>
            <a:ext cx="180975" cy="6111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60840" rIns="90000" bIns="46800">
            <a:spAutoFit/>
          </a:bodyPr>
          <a:lstStyle/>
          <a:p>
            <a:pPr>
              <a:lnSpc>
                <a:spcPct val="93000"/>
              </a:lnSpc>
              <a:spcBef>
                <a:spcPts val="40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1600" b="1">
              <a:solidFill>
                <a:srgbClr val="000000"/>
              </a:solidFill>
              <a:latin typeface="Arial" charset="0"/>
            </a:endParaRPr>
          </a:p>
          <a:p>
            <a:pPr>
              <a:lnSpc>
                <a:spcPct val="93000"/>
              </a:lnSpc>
              <a:spcBef>
                <a:spcPts val="40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1600" b="1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889000" y="304800"/>
            <a:ext cx="8112125" cy="976313"/>
          </a:xfrm>
        </p:spPr>
        <p:txBody>
          <a:bodyPr tIns="104760" anchor="t"/>
          <a:lstStyle/>
          <a:p>
            <a:pPr eaLnBrk="1">
              <a:lnSpc>
                <a:spcPct val="74000"/>
              </a:lnSpc>
              <a:spcBef>
                <a:spcPts val="725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/>
              <a:t>AQP and Contracts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idx="1"/>
          </p:nvPr>
        </p:nvSpPr>
        <p:spPr>
          <a:xfrm>
            <a:off x="505838" y="1371600"/>
            <a:ext cx="8333362" cy="4572000"/>
          </a:xfrm>
          <a:solidFill>
            <a:schemeClr val="bg1"/>
          </a:solidFill>
        </p:spPr>
        <p:txBody>
          <a:bodyPr tIns="17640"/>
          <a:lstStyle/>
          <a:p>
            <a:pPr indent="-311150" algn="ctr" eaLnBrk="1" hangingPunct="1">
              <a:lnSpc>
                <a:spcPct val="93000"/>
              </a:lnSpc>
              <a:spcBef>
                <a:spcPct val="0"/>
              </a:spcBef>
              <a:spcAft>
                <a:spcPts val="438"/>
              </a:spcAft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2000" dirty="0">
                <a:solidFill>
                  <a:schemeClr val="tx1"/>
                </a:solidFill>
              </a:rPr>
              <a:t>AQP</a:t>
            </a:r>
            <a:r>
              <a:rPr lang="en-GB" sz="2000" dirty="0"/>
              <a:t> is implemented via Article 2 of Oracle's Master Supply Agreement's Quality Exhibit. </a:t>
            </a:r>
          </a:p>
          <a:p>
            <a:pPr indent="-311150" eaLnBrk="1" hangingPunct="1">
              <a:lnSpc>
                <a:spcPct val="93000"/>
              </a:lnSpc>
              <a:spcBef>
                <a:spcPct val="0"/>
              </a:spcBef>
              <a:spcAft>
                <a:spcPts val="438"/>
              </a:spcAft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US" sz="1800" dirty="0"/>
          </a:p>
          <a:p>
            <a:pPr indent="-311150" eaLnBrk="1" hangingPunct="1">
              <a:lnSpc>
                <a:spcPct val="93000"/>
              </a:lnSpc>
              <a:spcBef>
                <a:spcPct val="0"/>
              </a:spcBef>
              <a:spcAft>
                <a:spcPts val="438"/>
              </a:spcAft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1400" dirty="0">
                <a:latin typeface="Times New Roman" pitchFamily="16" charset="0"/>
              </a:rPr>
              <a:t>. </a:t>
            </a:r>
          </a:p>
          <a:p>
            <a:pPr indent="-311150" eaLnBrk="1" hangingPunct="1">
              <a:lnSpc>
                <a:spcPct val="93000"/>
              </a:lnSpc>
              <a:spcBef>
                <a:spcPct val="0"/>
              </a:spcBef>
              <a:spcAft>
                <a:spcPts val="438"/>
              </a:spcAft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000" dirty="0"/>
              <a:t>Products and Components must comply with…….(c) applicable to AQP documents as identified in the Award Letter, </a:t>
            </a:r>
            <a:r>
              <a:rPr lang="en-US" sz="2000" dirty="0">
                <a:solidFill>
                  <a:schemeClr val="tx1"/>
                </a:solidFill>
              </a:rPr>
              <a:t>Product Schedule </a:t>
            </a:r>
            <a:r>
              <a:rPr lang="en-US" sz="2000" b="1" dirty="0">
                <a:solidFill>
                  <a:schemeClr val="tx2"/>
                </a:solidFill>
              </a:rPr>
              <a:t>and/or the Manufacturing/Operations Requirements Advanced Quality Planning Matrix, 913-3592 (“AQP Matrix”) located in an Oracle secure site and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/>
              <a:t>(D) any other Product specific quality-related deliverable(s) metrics and requirements agree to in writing…….</a:t>
            </a:r>
            <a:endParaRPr lang="en-GB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B6A9C34-DDC0-4718-BEF8-85EBC9F2F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Oracle Confidential Restricted</a:t>
            </a:r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1"/>
          <p:cNvSpPr txBox="1">
            <a:spLocks noChangeArrowheads="1"/>
          </p:cNvSpPr>
          <p:nvPr/>
        </p:nvSpPr>
        <p:spPr bwMode="auto">
          <a:xfrm>
            <a:off x="812800" y="1919288"/>
            <a:ext cx="180975" cy="6111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60840" rIns="90000" bIns="46800">
            <a:spAutoFit/>
          </a:bodyPr>
          <a:lstStyle/>
          <a:p>
            <a:pPr>
              <a:lnSpc>
                <a:spcPct val="93000"/>
              </a:lnSpc>
              <a:spcBef>
                <a:spcPts val="40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1600" b="1">
              <a:solidFill>
                <a:srgbClr val="000000"/>
              </a:solidFill>
              <a:latin typeface="Arial" charset="0"/>
            </a:endParaRPr>
          </a:p>
          <a:p>
            <a:pPr>
              <a:lnSpc>
                <a:spcPct val="93000"/>
              </a:lnSpc>
              <a:spcBef>
                <a:spcPts val="40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1600" b="1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889000" y="304800"/>
            <a:ext cx="7581900" cy="976313"/>
          </a:xfrm>
        </p:spPr>
        <p:txBody>
          <a:bodyPr tIns="104760" anchor="t"/>
          <a:lstStyle/>
          <a:p>
            <a:pPr eaLnBrk="1">
              <a:lnSpc>
                <a:spcPct val="74000"/>
              </a:lnSpc>
              <a:spcBef>
                <a:spcPts val="725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/>
              <a:t>AQP and Contracts</a:t>
            </a:r>
            <a:endParaRPr lang="en-GB" sz="2800">
              <a:solidFill>
                <a:srgbClr val="CCCCCC"/>
              </a:solidFill>
            </a:endParaRPr>
          </a:p>
        </p:txBody>
      </p:sp>
      <p:sp>
        <p:nvSpPr>
          <p:cNvPr id="10244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295400"/>
            <a:ext cx="8256588" cy="4191000"/>
          </a:xfrm>
        </p:spPr>
        <p:txBody>
          <a:bodyPr tIns="17640"/>
          <a:lstStyle/>
          <a:p>
            <a:pPr indent="-311150" eaLnBrk="1" hangingPunct="1">
              <a:lnSpc>
                <a:spcPct val="93000"/>
              </a:lnSpc>
              <a:spcBef>
                <a:spcPct val="0"/>
              </a:spcBef>
              <a:spcAft>
                <a:spcPts val="438"/>
              </a:spcAft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2000" dirty="0"/>
              <a:t>The </a:t>
            </a:r>
            <a:r>
              <a:rPr lang="en-GB" sz="2000" dirty="0">
                <a:solidFill>
                  <a:srgbClr val="0000FF"/>
                </a:solidFill>
              </a:rPr>
              <a:t>AQP</a:t>
            </a:r>
            <a:r>
              <a:rPr lang="en-GB" sz="2000" dirty="0"/>
              <a:t> </a:t>
            </a:r>
            <a:r>
              <a:rPr lang="en-GB" sz="2000" i="1" dirty="0">
                <a:solidFill>
                  <a:srgbClr val="0000FF"/>
                </a:solidFill>
              </a:rPr>
              <a:t>supplier type </a:t>
            </a:r>
            <a:r>
              <a:rPr lang="en-GB" sz="2000" dirty="0"/>
              <a:t>is invoked via the Product Award Letter</a:t>
            </a:r>
          </a:p>
          <a:p>
            <a:pPr indent="-311150" eaLnBrk="1" hangingPunct="1">
              <a:lnSpc>
                <a:spcPct val="93000"/>
              </a:lnSpc>
              <a:spcBef>
                <a:spcPct val="0"/>
              </a:spcBef>
              <a:spcAft>
                <a:spcPts val="438"/>
              </a:spcAft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2000" dirty="0"/>
          </a:p>
          <a:p>
            <a:pPr indent="-311150" eaLnBrk="1" hangingPunct="1">
              <a:lnSpc>
                <a:spcPct val="93000"/>
              </a:lnSpc>
              <a:spcBef>
                <a:spcPct val="0"/>
              </a:spcBef>
              <a:spcAft>
                <a:spcPts val="438"/>
              </a:spcAft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1600" dirty="0"/>
              <a:t>Text from </a:t>
            </a:r>
            <a:r>
              <a:rPr lang="en-GB" sz="1600" b="1" dirty="0"/>
              <a:t>PAL Article 4, Product Specifications</a:t>
            </a:r>
            <a:r>
              <a:rPr lang="en-GB" sz="1600" dirty="0"/>
              <a:t> says:</a:t>
            </a:r>
          </a:p>
          <a:p>
            <a:pPr indent="-311150" eaLnBrk="1" hangingPunct="1">
              <a:lnSpc>
                <a:spcPct val="93000"/>
              </a:lnSpc>
              <a:spcBef>
                <a:spcPct val="0"/>
              </a:spcBef>
              <a:spcAft>
                <a:spcPts val="438"/>
              </a:spcAft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600" dirty="0"/>
          </a:p>
          <a:p>
            <a:pPr indent="-311150" eaLnBrk="1" hangingPunct="1">
              <a:lnSpc>
                <a:spcPct val="93000"/>
              </a:lnSpc>
              <a:spcBef>
                <a:spcPct val="0"/>
              </a:spcBef>
              <a:spcAft>
                <a:spcPts val="438"/>
              </a:spcAft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US" sz="1000" dirty="0"/>
          </a:p>
          <a:p>
            <a:pPr indent="-311150" algn="ctr" eaLnBrk="1" hangingPunct="1">
              <a:lnSpc>
                <a:spcPct val="93000"/>
              </a:lnSpc>
              <a:spcBef>
                <a:spcPct val="0"/>
              </a:spcBef>
              <a:spcAft>
                <a:spcPts val="438"/>
              </a:spcAft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1800" dirty="0"/>
              <a:t>Supplier will comply with (a) Product-specific Specifications set forth in Appendix 2 or provided to Supplier via other means as used by the parties in carrying out the Agreement; and (b) all Specifications, operational requirements and other </a:t>
            </a:r>
            <a:r>
              <a:rPr lang="en-US" sz="1800" b="1" dirty="0"/>
              <a:t>documents identified in the ____ column of the AQP Matrix</a:t>
            </a:r>
            <a:r>
              <a:rPr lang="en-US" sz="1800" dirty="0"/>
              <a:t>. </a:t>
            </a:r>
          </a:p>
          <a:p>
            <a:pPr indent="-311150" algn="ctr" eaLnBrk="1" hangingPunct="1">
              <a:lnSpc>
                <a:spcPct val="93000"/>
              </a:lnSpc>
              <a:spcBef>
                <a:spcPct val="0"/>
              </a:spcBef>
              <a:spcAft>
                <a:spcPts val="438"/>
              </a:spcAft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US" sz="1800" dirty="0"/>
          </a:p>
          <a:p>
            <a:pPr indent="-311150" algn="ctr" eaLnBrk="1" hangingPunct="1">
              <a:lnSpc>
                <a:spcPct val="93000"/>
              </a:lnSpc>
              <a:spcBef>
                <a:spcPct val="0"/>
              </a:spcBef>
              <a:spcAft>
                <a:spcPts val="438"/>
              </a:spcAft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US" sz="1800" dirty="0"/>
          </a:p>
          <a:p>
            <a:pPr indent="-311150" algn="ctr" eaLnBrk="1" hangingPunct="1">
              <a:lnSpc>
                <a:spcPct val="93000"/>
              </a:lnSpc>
              <a:spcBef>
                <a:spcPct val="0"/>
              </a:spcBef>
              <a:spcAft>
                <a:spcPts val="438"/>
              </a:spcAft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1800" dirty="0"/>
              <a:t>Oracle will provide applicable AQP information to the Supplier via a secure site</a:t>
            </a:r>
          </a:p>
          <a:p>
            <a:pPr indent="-311150" eaLnBrk="1" hangingPunct="1">
              <a:lnSpc>
                <a:spcPct val="93000"/>
              </a:lnSpc>
              <a:spcBef>
                <a:spcPct val="0"/>
              </a:spcBef>
              <a:spcAft>
                <a:spcPts val="438"/>
              </a:spcAft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US" sz="1800" dirty="0"/>
          </a:p>
          <a:p>
            <a:pPr indent="-311150" eaLnBrk="1" hangingPunct="1">
              <a:lnSpc>
                <a:spcPct val="93000"/>
              </a:lnSpc>
              <a:spcBef>
                <a:spcPct val="0"/>
              </a:spcBef>
              <a:spcAft>
                <a:spcPts val="438"/>
              </a:spcAft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US" sz="1400" dirty="0"/>
          </a:p>
          <a:p>
            <a:pPr indent="-311150" eaLnBrk="1" hangingPunct="1">
              <a:lnSpc>
                <a:spcPct val="93000"/>
              </a:lnSpc>
              <a:spcBef>
                <a:spcPct val="0"/>
              </a:spcBef>
              <a:spcAft>
                <a:spcPts val="438"/>
              </a:spcAft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600" dirty="0">
              <a:solidFill>
                <a:srgbClr val="0000FF"/>
              </a:solidFill>
            </a:endParaRPr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800" dirty="0"/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800" dirty="0"/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800" dirty="0">
              <a:solidFill>
                <a:srgbClr val="7F7F7F"/>
              </a:solidFill>
            </a:endParaRPr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800" dirty="0"/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A167896-BCF2-4913-B2D9-C7FFD400B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Oracle Confidential Restricted</a:t>
            </a:r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1"/>
          <p:cNvSpPr txBox="1">
            <a:spLocks noChangeArrowheads="1"/>
          </p:cNvSpPr>
          <p:nvPr/>
        </p:nvSpPr>
        <p:spPr bwMode="auto">
          <a:xfrm>
            <a:off x="812800" y="1919288"/>
            <a:ext cx="180975" cy="6111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60840" rIns="90000" bIns="46800">
            <a:spAutoFit/>
          </a:bodyPr>
          <a:lstStyle/>
          <a:p>
            <a:pPr>
              <a:lnSpc>
                <a:spcPct val="93000"/>
              </a:lnSpc>
              <a:spcBef>
                <a:spcPts val="40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1600" b="1">
              <a:solidFill>
                <a:srgbClr val="000000"/>
              </a:solidFill>
              <a:latin typeface="Arial" charset="0"/>
            </a:endParaRPr>
          </a:p>
          <a:p>
            <a:pPr>
              <a:lnSpc>
                <a:spcPct val="93000"/>
              </a:lnSpc>
              <a:spcBef>
                <a:spcPts val="40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1600" b="1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889000" y="304800"/>
            <a:ext cx="7581900" cy="976313"/>
          </a:xfrm>
        </p:spPr>
        <p:txBody>
          <a:bodyPr tIns="28080" anchor="t"/>
          <a:lstStyle/>
          <a:p>
            <a:pPr eaLnBrk="1" hangingPunct="1">
              <a:lnSpc>
                <a:spcPct val="93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dirty="0"/>
              <a:t>AQP Initial Review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239838"/>
            <a:ext cx="7954963" cy="4343400"/>
          </a:xfrm>
        </p:spPr>
        <p:txBody>
          <a:bodyPr tIns="15840"/>
          <a:lstStyle/>
          <a:p>
            <a:pPr indent="-311150" eaLnBrk="1" hangingPunct="1">
              <a:lnSpc>
                <a:spcPct val="93000"/>
              </a:lnSpc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800" dirty="0"/>
          </a:p>
          <a:p>
            <a:pPr indent="-311150" eaLnBrk="1" hangingPunct="1">
              <a:lnSpc>
                <a:spcPct val="93000"/>
              </a:lnSpc>
              <a:buClrTx/>
              <a:buFontTx/>
              <a:buChar char="-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1800" dirty="0"/>
              <a:t>An AQP  supplier type is selected by the Oracle team</a:t>
            </a:r>
          </a:p>
          <a:p>
            <a:pPr indent="-311150" eaLnBrk="1" hangingPunct="1">
              <a:lnSpc>
                <a:spcPct val="93000"/>
              </a:lnSpc>
              <a:buClrTx/>
              <a:buFontTx/>
              <a:buChar char="-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800" dirty="0"/>
          </a:p>
          <a:p>
            <a:pPr indent="-311150" eaLnBrk="1" hangingPunct="1">
              <a:lnSpc>
                <a:spcPct val="93000"/>
              </a:lnSpc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1800" dirty="0"/>
              <a:t>-   The supplier reviews </a:t>
            </a:r>
            <a:r>
              <a:rPr lang="en-GB" dirty="0"/>
              <a:t>the specifications with an X in their proposed supplier type</a:t>
            </a:r>
            <a:endParaRPr lang="en-GB" sz="1800" dirty="0"/>
          </a:p>
          <a:p>
            <a:pPr indent="-311150" eaLnBrk="1" hangingPunct="1">
              <a:lnSpc>
                <a:spcPct val="93000"/>
              </a:lnSpc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800" dirty="0"/>
          </a:p>
          <a:p>
            <a:pPr indent="-311150" eaLnBrk="1" hangingPunct="1">
              <a:lnSpc>
                <a:spcPct val="93000"/>
              </a:lnSpc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1800" dirty="0"/>
              <a:t>-   Oracle and the supplier discuss and agree on any exceptions to the </a:t>
            </a:r>
            <a:r>
              <a:rPr lang="en-GB" sz="1800" dirty="0" err="1"/>
              <a:t>X’d</a:t>
            </a:r>
            <a:r>
              <a:rPr lang="en-GB" sz="1800" dirty="0"/>
              <a:t> documents. Exceptions are documented.</a:t>
            </a:r>
          </a:p>
          <a:p>
            <a:pPr indent="-311150" eaLnBrk="1" hangingPunct="1">
              <a:lnSpc>
                <a:spcPct val="93000"/>
              </a:lnSpc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800" dirty="0"/>
          </a:p>
          <a:p>
            <a:pPr indent="-311150" eaLnBrk="1" hangingPunct="1">
              <a:lnSpc>
                <a:spcPct val="93000"/>
              </a:lnSpc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dirty="0"/>
              <a:t>- The agreed supplier type is entered into the contract.</a:t>
            </a:r>
            <a:endParaRPr lang="en-GB" sz="1800" dirty="0"/>
          </a:p>
          <a:p>
            <a:pPr indent="-311150" eaLnBrk="1" hangingPunct="1">
              <a:spcBef>
                <a:spcPts val="50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800" dirty="0"/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600" dirty="0"/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6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941B88-ADAD-4A54-BA03-C7D544B3F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Oracle Confidential Restricted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64480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/>
          <p:cNvSpPr>
            <a:spLocks noGrp="1" noChangeArrowheads="1"/>
          </p:cNvSpPr>
          <p:nvPr>
            <p:ph type="title"/>
          </p:nvPr>
        </p:nvSpPr>
        <p:spPr>
          <a:xfrm>
            <a:off x="889000" y="304800"/>
            <a:ext cx="7575550" cy="935038"/>
          </a:xfrm>
        </p:spPr>
        <p:txBody>
          <a:bodyPr tIns="52560" anchor="t"/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Quality Exhibit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312863"/>
            <a:ext cx="7531100" cy="4437062"/>
          </a:xfrm>
        </p:spPr>
        <p:txBody>
          <a:bodyPr tIns="36000"/>
          <a:lstStyle/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2200" dirty="0"/>
              <a:t>Supplier signs the contract documentation:</a:t>
            </a:r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2200" dirty="0"/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2200" dirty="0"/>
              <a:t>By signing the Quality Exhibit the Supplier is committing to using AQP and complying to the relevant specifications.</a:t>
            </a:r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2200" dirty="0"/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2200" dirty="0"/>
              <a:t>Any issues arising with the negotiation of the Quality Exhibit should be driven and resolved by Oracle's supplier team.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786E2FB-FFE5-4994-9858-15265A20F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Oracle Confidential Restricted</a:t>
            </a:r>
            <a:endParaRPr lang="en-US" dirty="0"/>
          </a:p>
        </p:txBody>
      </p:sp>
      <p:pic>
        <p:nvPicPr>
          <p:cNvPr id="1229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86600" y="4882090"/>
            <a:ext cx="1935163" cy="129010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/>
          <p:cNvSpPr>
            <a:spLocks noGrp="1" noChangeArrowheads="1"/>
          </p:cNvSpPr>
          <p:nvPr>
            <p:ph type="title"/>
          </p:nvPr>
        </p:nvSpPr>
        <p:spPr>
          <a:xfrm>
            <a:off x="889000" y="304800"/>
            <a:ext cx="7575550" cy="935038"/>
          </a:xfrm>
        </p:spPr>
        <p:txBody>
          <a:bodyPr tIns="52560" anchor="t"/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Product Award Letter</a:t>
            </a:r>
          </a:p>
        </p:txBody>
      </p:sp>
      <p:sp>
        <p:nvSpPr>
          <p:cNvPr id="13315" name="Rectangle 2"/>
          <p:cNvSpPr>
            <a:spLocks noGrp="1" noChangeArrowheads="1"/>
          </p:cNvSpPr>
          <p:nvPr>
            <p:ph idx="1"/>
          </p:nvPr>
        </p:nvSpPr>
        <p:spPr>
          <a:xfrm>
            <a:off x="254000" y="1063705"/>
            <a:ext cx="8001000" cy="5111750"/>
          </a:xfrm>
        </p:spPr>
        <p:txBody>
          <a:bodyPr tIns="36000">
            <a:normAutofit/>
          </a:bodyPr>
          <a:lstStyle/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2200" dirty="0"/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2200" dirty="0"/>
              <a:t>Supplier signs the Product Award Letter </a:t>
            </a:r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2200" dirty="0"/>
              <a:t>The supplier type is specified in the Product Award letter signed by the Supplier.</a:t>
            </a:r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2200" dirty="0"/>
              <a:t>Suppliers need to comply with any specification with an X in the supplier type.*</a:t>
            </a:r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2200" dirty="0"/>
              <a:t>Any issues arising with the negotiation of the Quality Exhibit</a:t>
            </a:r>
          </a:p>
          <a:p>
            <a:pPr indent="-31115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2200" dirty="0"/>
              <a:t>should be driven and resolved by Oracle's supplier manager.</a:t>
            </a:r>
          </a:p>
          <a:p>
            <a:pPr indent="-31115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2200" dirty="0"/>
          </a:p>
          <a:p>
            <a:pPr indent="-31115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2200" dirty="0"/>
              <a:t>* </a:t>
            </a:r>
            <a:r>
              <a:rPr lang="en-US" sz="1400" dirty="0">
                <a:solidFill>
                  <a:schemeClr val="tx2">
                    <a:lumMod val="95000"/>
                    <a:lumOff val="5000"/>
                  </a:schemeClr>
                </a:solidFill>
                <a:latin typeface="+mn-lt"/>
              </a:rPr>
              <a:t>NOTE</a:t>
            </a:r>
            <a:r>
              <a:rPr lang="en-US" sz="14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– </a:t>
            </a:r>
            <a:r>
              <a:rPr lang="en-US" sz="1400" dirty="0">
                <a:solidFill>
                  <a:schemeClr val="tx2">
                    <a:lumMod val="95000"/>
                    <a:lumOff val="5000"/>
                  </a:schemeClr>
                </a:solidFill>
                <a:latin typeface="+mn-lt"/>
              </a:rPr>
              <a:t>Oracle Supplier Management may add or exempt specific requirements.  Any changes to the assigned supplier type will be noted in the contract documentation</a:t>
            </a:r>
            <a:endParaRPr lang="en-GB" sz="1400" dirty="0"/>
          </a:p>
          <a:p>
            <a:pPr indent="-31115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2200" dirty="0"/>
          </a:p>
          <a:p>
            <a:pPr indent="-31115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22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B85B158-AE25-4B32-B6F2-8F1481ECA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Oracle Confidential Restricted</a:t>
            </a:r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ChangeArrowheads="1"/>
          </p:cNvSpPr>
          <p:nvPr>
            <p:ph type="title"/>
          </p:nvPr>
        </p:nvSpPr>
        <p:spPr>
          <a:xfrm>
            <a:off x="889000" y="304800"/>
            <a:ext cx="7575550" cy="935038"/>
          </a:xfrm>
        </p:spPr>
        <p:txBody>
          <a:bodyPr tIns="52560" anchor="t"/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/>
              <a:t>Advanced Quality Planning</a:t>
            </a:r>
          </a:p>
        </p:txBody>
      </p:sp>
      <p:sp>
        <p:nvSpPr>
          <p:cNvPr id="14339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060450"/>
            <a:ext cx="8534400" cy="4437063"/>
          </a:xfrm>
        </p:spPr>
        <p:txBody>
          <a:bodyPr tIns="36000"/>
          <a:lstStyle/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2200" dirty="0"/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2200" dirty="0"/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2200" dirty="0"/>
          </a:p>
          <a:p>
            <a:pPr indent="-311150" algn="ctr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2400" dirty="0"/>
              <a:t>Accessing the AQP specifications</a:t>
            </a:r>
          </a:p>
          <a:p>
            <a:pPr marL="31750" indent="0" algn="ctr" eaLnBrk="1" hangingPunct="1">
              <a:buClr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2200" dirty="0"/>
              <a:t>Before signing the MSA/PAL</a:t>
            </a:r>
          </a:p>
          <a:p>
            <a:pPr marL="31750" indent="0" algn="ctr" eaLnBrk="1" hangingPunct="1">
              <a:buClr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2200" dirty="0"/>
              <a:t>and</a:t>
            </a:r>
          </a:p>
          <a:p>
            <a:pPr marL="31750" indent="0" algn="ctr" eaLnBrk="1" hangingPunct="1">
              <a:buClr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2200" dirty="0"/>
              <a:t>After signing the MSA/PAL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0F7675-4F2C-4F0F-AFA4-A30F0A40B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Oracle Confidential Restricted</a:t>
            </a:r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/>
          <p:cNvSpPr>
            <a:spLocks noGrp="1" noChangeArrowheads="1"/>
          </p:cNvSpPr>
          <p:nvPr>
            <p:ph type="title"/>
          </p:nvPr>
        </p:nvSpPr>
        <p:spPr>
          <a:xfrm>
            <a:off x="200216" y="349118"/>
            <a:ext cx="7575550" cy="935038"/>
          </a:xfrm>
        </p:spPr>
        <p:txBody>
          <a:bodyPr tIns="52560" anchor="t">
            <a:normAutofit fontScale="90000"/>
          </a:bodyPr>
          <a:lstStyle/>
          <a:p>
            <a:pPr algn="ctr"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dirty="0"/>
              <a:t>Accessing AQP documents before signing the contract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10510" y="1604301"/>
            <a:ext cx="7954963" cy="4437062"/>
          </a:xfrm>
        </p:spPr>
        <p:txBody>
          <a:bodyPr tIns="36000"/>
          <a:lstStyle/>
          <a:p>
            <a:pPr indent="-311150" algn="ctr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2200" dirty="0"/>
          </a:p>
          <a:p>
            <a:pPr indent="-311150" algn="ctr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2200" dirty="0"/>
              <a:t>Suppliers who have not yet signed an MSA/PAL access the AQP matrix (913-352) via a secure and private AQP site. </a:t>
            </a:r>
          </a:p>
          <a:p>
            <a:pPr indent="-311150" algn="ctr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2200" dirty="0"/>
          </a:p>
          <a:p>
            <a:pPr indent="-311150" algn="ctr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2200" dirty="0"/>
              <a:t>The supplier will be sent a link to the site which will contain the relevant AQP documents.</a:t>
            </a:r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2200" dirty="0"/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2200" dirty="0"/>
          </a:p>
          <a:p>
            <a:pPr indent="-31115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2200" dirty="0"/>
          </a:p>
          <a:p>
            <a:pPr indent="-31115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2200" b="1" u="sng" dirty="0"/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2200" b="1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05FDED5-B866-4006-B48D-37D3FB44A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Oracle Confidential Restricted</a:t>
            </a:r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/>
          <p:cNvSpPr>
            <a:spLocks noGrp="1" noChangeArrowheads="1"/>
          </p:cNvSpPr>
          <p:nvPr>
            <p:ph type="title"/>
          </p:nvPr>
        </p:nvSpPr>
        <p:spPr>
          <a:xfrm>
            <a:off x="889000" y="304800"/>
            <a:ext cx="7575550" cy="935038"/>
          </a:xfrm>
        </p:spPr>
        <p:txBody>
          <a:bodyPr tIns="52560" anchor="t"/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dirty="0"/>
              <a:t>Accessing AQP in Fusion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023938"/>
            <a:ext cx="8259763" cy="4437062"/>
          </a:xfrm>
        </p:spPr>
        <p:txBody>
          <a:bodyPr tIns="36000">
            <a:normAutofit/>
          </a:bodyPr>
          <a:lstStyle/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2200" dirty="0"/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2200" dirty="0"/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2200" dirty="0"/>
              <a:t>Once an MSA/PAL is signed, suppliers can be setup to access</a:t>
            </a:r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2200" dirty="0"/>
              <a:t> the AQP documents via</a:t>
            </a:r>
            <a:r>
              <a:rPr lang="en-GB" sz="2200" dirty="0">
                <a:solidFill>
                  <a:schemeClr val="tx1"/>
                </a:solidFill>
              </a:rPr>
              <a:t> Oracle’s Fusion Product Development (PD) module or can continue to use the private site.</a:t>
            </a:r>
          </a:p>
          <a:p>
            <a:pPr indent="-31115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2200" dirty="0"/>
          </a:p>
          <a:p>
            <a:pPr indent="-31115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2200" dirty="0"/>
              <a:t>Once the supplier has been granted access, instructions on how to access the AQP documents in Fusion are emailed.</a:t>
            </a:r>
          </a:p>
          <a:p>
            <a:pPr indent="-31115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2200" dirty="0"/>
          </a:p>
          <a:p>
            <a:pPr indent="-31115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2200" dirty="0"/>
              <a:t> </a:t>
            </a:r>
            <a:endParaRPr lang="en-GB" sz="2200" b="1" u="sng" dirty="0"/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2200" b="1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7F6EB7F-C079-4624-A4B0-51CA20461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Oracle Confidential Restricted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443563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/>
          <p:cNvSpPr>
            <a:spLocks noGrp="1" noChangeArrowheads="1"/>
          </p:cNvSpPr>
          <p:nvPr>
            <p:ph type="title"/>
          </p:nvPr>
        </p:nvSpPr>
        <p:spPr>
          <a:xfrm>
            <a:off x="889000" y="304800"/>
            <a:ext cx="7575550" cy="935038"/>
          </a:xfrm>
        </p:spPr>
        <p:txBody>
          <a:bodyPr tIns="52560" anchor="t"/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AQP – Notification of Changes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D320204-FFA5-48C2-93E8-335D47D58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Oracle Confidential Restricted</a:t>
            </a:r>
            <a:endParaRPr lang="en-US" dirty="0"/>
          </a:p>
        </p:txBody>
      </p:sp>
      <p:sp>
        <p:nvSpPr>
          <p:cNvPr id="24579" name="Text Box 2"/>
          <p:cNvSpPr txBox="1">
            <a:spLocks noChangeArrowheads="1"/>
          </p:cNvSpPr>
          <p:nvPr/>
        </p:nvSpPr>
        <p:spPr bwMode="auto">
          <a:xfrm>
            <a:off x="360363" y="1620838"/>
            <a:ext cx="8720137" cy="18859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75600" rIns="90000" bIns="45000"/>
          <a:lstStyle/>
          <a:p>
            <a:pPr algn="ctr">
              <a:lnSpc>
                <a:spcPct val="93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200" b="1" dirty="0">
                <a:solidFill>
                  <a:srgbClr val="000000"/>
                </a:solidFill>
                <a:latin typeface="Arial" charset="0"/>
              </a:rPr>
              <a:t>What if a document is added/deleted or updated?</a:t>
            </a:r>
          </a:p>
          <a:p>
            <a:pPr algn="ctr">
              <a:lnSpc>
                <a:spcPct val="89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2200" b="1" dirty="0">
              <a:solidFill>
                <a:srgbClr val="000000"/>
              </a:solidFill>
              <a:latin typeface="Arial" charset="0"/>
            </a:endParaRPr>
          </a:p>
          <a:p>
            <a:pPr algn="ctr">
              <a:lnSpc>
                <a:spcPct val="89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2200" dirty="0">
              <a:solidFill>
                <a:srgbClr val="000000"/>
              </a:solidFill>
              <a:latin typeface="Arial" charset="0"/>
            </a:endParaRPr>
          </a:p>
          <a:p>
            <a:pPr algn="ctr">
              <a:lnSpc>
                <a:spcPct val="89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200" dirty="0">
                <a:solidFill>
                  <a:srgbClr val="000000"/>
                </a:solidFill>
                <a:latin typeface="Arial" charset="0"/>
              </a:rPr>
              <a:t>Documents are updated, added</a:t>
            </a:r>
          </a:p>
          <a:p>
            <a:pPr algn="ctr">
              <a:lnSpc>
                <a:spcPct val="89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200" dirty="0">
                <a:solidFill>
                  <a:srgbClr val="000000"/>
                </a:solidFill>
                <a:latin typeface="Arial" charset="0"/>
              </a:rPr>
              <a:t> or deleted via the engineering change order (ECO) process.</a:t>
            </a:r>
          </a:p>
          <a:p>
            <a:pPr algn="ctr">
              <a:lnSpc>
                <a:spcPct val="89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2200" dirty="0">
              <a:solidFill>
                <a:srgbClr val="000000"/>
              </a:solidFill>
              <a:latin typeface="Arial" charset="0"/>
            </a:endParaRPr>
          </a:p>
          <a:p>
            <a:pPr algn="ctr">
              <a:lnSpc>
                <a:spcPct val="89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200" dirty="0">
                <a:solidFill>
                  <a:srgbClr val="000000"/>
                </a:solidFill>
                <a:latin typeface="Arial" charset="0"/>
              </a:rPr>
              <a:t> When an ECO is released </a:t>
            </a:r>
          </a:p>
          <a:p>
            <a:pPr algn="ctr">
              <a:lnSpc>
                <a:spcPct val="89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200" dirty="0">
                <a:solidFill>
                  <a:srgbClr val="000000"/>
                </a:solidFill>
                <a:latin typeface="Arial" charset="0"/>
              </a:rPr>
              <a:t>an email notification will be sent to you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1"/>
          <p:cNvSpPr txBox="1">
            <a:spLocks noChangeArrowheads="1"/>
          </p:cNvSpPr>
          <p:nvPr/>
        </p:nvSpPr>
        <p:spPr bwMode="auto">
          <a:xfrm>
            <a:off x="812800" y="1919288"/>
            <a:ext cx="180975" cy="6111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60840" rIns="90000" bIns="46800">
            <a:spAutoFit/>
          </a:bodyPr>
          <a:lstStyle/>
          <a:p>
            <a:pPr>
              <a:lnSpc>
                <a:spcPct val="93000"/>
              </a:lnSpc>
              <a:spcBef>
                <a:spcPts val="40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1600" b="1">
              <a:solidFill>
                <a:srgbClr val="000000"/>
              </a:solidFill>
              <a:latin typeface="Arial" charset="0"/>
            </a:endParaRPr>
          </a:p>
          <a:p>
            <a:pPr>
              <a:lnSpc>
                <a:spcPct val="93000"/>
              </a:lnSpc>
              <a:spcBef>
                <a:spcPts val="40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1600" b="1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7581900" cy="762000"/>
          </a:xfrm>
        </p:spPr>
        <p:txBody>
          <a:bodyPr tIns="104760" anchor="t"/>
          <a:lstStyle/>
          <a:p>
            <a:pPr eaLnBrk="1">
              <a:lnSpc>
                <a:spcPct val="74000"/>
              </a:lnSpc>
              <a:spcBef>
                <a:spcPts val="725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400"/>
              <a:t>AQP – Changes and Contracts</a:t>
            </a:r>
            <a:br>
              <a:rPr lang="en-GB"/>
            </a:br>
            <a:endParaRPr lang="en-GB" sz="2000">
              <a:solidFill>
                <a:srgbClr val="CCCCCC"/>
              </a:solidFill>
            </a:endParaRPr>
          </a:p>
        </p:txBody>
      </p:sp>
      <p:sp>
        <p:nvSpPr>
          <p:cNvPr id="25604" name="Rectangle 3"/>
          <p:cNvSpPr>
            <a:spLocks noGrp="1" noChangeArrowheads="1"/>
          </p:cNvSpPr>
          <p:nvPr>
            <p:ph idx="1"/>
          </p:nvPr>
        </p:nvSpPr>
        <p:spPr>
          <a:xfrm>
            <a:off x="0" y="914400"/>
            <a:ext cx="8256588" cy="7078857"/>
          </a:xfrm>
        </p:spPr>
        <p:txBody>
          <a:bodyPr tIns="17640"/>
          <a:lstStyle/>
          <a:p>
            <a:pPr indent="-311150" algn="ctr" eaLnBrk="1" hangingPunct="1">
              <a:lnSpc>
                <a:spcPct val="93000"/>
              </a:lnSpc>
              <a:spcBef>
                <a:spcPct val="0"/>
              </a:spcBef>
              <a:spcAft>
                <a:spcPts val="438"/>
              </a:spcAft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2000" dirty="0">
                <a:solidFill>
                  <a:schemeClr val="tx1"/>
                </a:solidFill>
              </a:rPr>
              <a:t>Changing</a:t>
            </a:r>
            <a:r>
              <a:rPr lang="en-GB" sz="2000" dirty="0"/>
              <a:t> AQP specifications</a:t>
            </a:r>
          </a:p>
          <a:p>
            <a:pPr indent="-311150" eaLnBrk="1" hangingPunct="1">
              <a:lnSpc>
                <a:spcPct val="93000"/>
              </a:lnSpc>
              <a:spcBef>
                <a:spcPct val="0"/>
              </a:spcBef>
              <a:spcAft>
                <a:spcPts val="438"/>
              </a:spcAft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2000" dirty="0"/>
          </a:p>
          <a:p>
            <a:pPr indent="-311150" eaLnBrk="1" hangingPunct="1">
              <a:lnSpc>
                <a:spcPct val="93000"/>
              </a:lnSpc>
              <a:spcBef>
                <a:spcPct val="0"/>
              </a:spcBef>
              <a:spcAft>
                <a:spcPts val="438"/>
              </a:spcAft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1600" dirty="0"/>
              <a:t>Text from </a:t>
            </a:r>
            <a:r>
              <a:rPr lang="en-GB" sz="1600" b="1" dirty="0"/>
              <a:t>PAL Article 4, Product Specifications</a:t>
            </a:r>
            <a:r>
              <a:rPr lang="en-GB" sz="1600" dirty="0"/>
              <a:t> says:</a:t>
            </a:r>
          </a:p>
          <a:p>
            <a:pPr indent="-311150" eaLnBrk="1" hangingPunct="1">
              <a:lnSpc>
                <a:spcPct val="93000"/>
              </a:lnSpc>
              <a:spcBef>
                <a:spcPct val="0"/>
              </a:spcBef>
              <a:spcAft>
                <a:spcPts val="438"/>
              </a:spcAft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600" dirty="0"/>
          </a:p>
          <a:p>
            <a:pPr indent="-311150" eaLnBrk="1" hangingPunct="1">
              <a:buClrTx/>
              <a:buFontTx/>
              <a:buChar char="-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1600" dirty="0"/>
              <a:t>Oracle may, from time to time, modify or change the AQP Documents identified in the AQP Matrix.  </a:t>
            </a:r>
          </a:p>
          <a:p>
            <a:pPr indent="-311150" eaLnBrk="1" hangingPunct="1">
              <a:buClrTx/>
              <a:buFontTx/>
              <a:buChar char="-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600" dirty="0"/>
          </a:p>
          <a:p>
            <a:pPr indent="-311150" eaLnBrk="1" hangingPunct="1">
              <a:buClrTx/>
              <a:buFontTx/>
              <a:buChar char="-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1600" dirty="0"/>
              <a:t>Supplier will have </a:t>
            </a:r>
            <a:r>
              <a:rPr lang="en-GB" sz="1600" b="1" dirty="0"/>
              <a:t>thirty (30) days </a:t>
            </a:r>
            <a:r>
              <a:rPr lang="en-GB" sz="1600" dirty="0"/>
              <a:t>from the earlier of the date of Supplier's knowledge of the modifications or Oracle's notification of any change to any AQP Documents to object to any such change(s).  </a:t>
            </a:r>
          </a:p>
          <a:p>
            <a:pPr indent="-311150" eaLnBrk="1" hangingPunct="1">
              <a:buClrTx/>
              <a:buFontTx/>
              <a:buChar char="-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600" dirty="0"/>
          </a:p>
          <a:p>
            <a:pPr indent="-311150" eaLnBrk="1" hangingPunct="1">
              <a:buClrTx/>
              <a:buFontTx/>
              <a:buChar char="-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1600" dirty="0"/>
              <a:t>If Supplier does not object to the change(s) to the AQP Document(s), Supplier shall be deemed to agree to comply with the changes to the  AQP Document(s) commencing </a:t>
            </a:r>
            <a:r>
              <a:rPr lang="en-GB" sz="1600" b="1" dirty="0"/>
              <a:t>thirty (30) days </a:t>
            </a:r>
            <a:r>
              <a:rPr lang="en-GB" sz="1600" dirty="0"/>
              <a:t>after the date of Supplier’s knowledge  of the modifications or Oracle’s notice of the change. </a:t>
            </a:r>
          </a:p>
          <a:p>
            <a:pPr indent="-311150" eaLnBrk="1" hangingPunct="1">
              <a:buClrTx/>
              <a:buFontTx/>
              <a:buChar char="-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600" dirty="0"/>
          </a:p>
          <a:p>
            <a:pPr indent="-311150" eaLnBrk="1" hangingPunct="1">
              <a:buClrTx/>
              <a:buFontTx/>
              <a:buChar char="-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600" dirty="0"/>
          </a:p>
          <a:p>
            <a:pPr indent="-311150" eaLnBrk="1" hangingPunct="1">
              <a:spcBef>
                <a:spcPts val="50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dirty="0"/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800" dirty="0"/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800" dirty="0"/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800" dirty="0">
              <a:solidFill>
                <a:srgbClr val="7F7F7F"/>
              </a:solidFill>
            </a:endParaRPr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800" dirty="0"/>
          </a:p>
          <a:p>
            <a:pPr indent="-31115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1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49C641E-6FB0-4F64-980B-7ABA30862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Oracle Confidential Restricted</a:t>
            </a:r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"/>
          <p:cNvSpPr>
            <a:spLocks noGrp="1" noChangeArrowheads="1"/>
          </p:cNvSpPr>
          <p:nvPr>
            <p:ph type="title"/>
          </p:nvPr>
        </p:nvSpPr>
        <p:spPr>
          <a:xfrm>
            <a:off x="889000" y="304800"/>
            <a:ext cx="7575550" cy="935038"/>
          </a:xfrm>
        </p:spPr>
        <p:txBody>
          <a:bodyPr tIns="52560" anchor="t"/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/>
              <a:t>Acronyms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F0CBD41-2099-42F0-881D-37189593A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Oracle Confidential Restricted</a:t>
            </a:r>
            <a:endParaRPr lang="en-US" dirty="0"/>
          </a:p>
        </p:txBody>
      </p:sp>
      <p:sp>
        <p:nvSpPr>
          <p:cNvPr id="32771" name="Text Box 2"/>
          <p:cNvSpPr txBox="1">
            <a:spLocks noChangeArrowheads="1"/>
          </p:cNvSpPr>
          <p:nvPr/>
        </p:nvSpPr>
        <p:spPr bwMode="auto">
          <a:xfrm>
            <a:off x="0" y="1439863"/>
            <a:ext cx="5208588" cy="38481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104040" rIns="90000" bIns="45000"/>
          <a:lstStyle/>
          <a:p>
            <a:pPr hangingPunct="0">
              <a:lnSpc>
                <a:spcPct val="74000"/>
              </a:lnSpc>
              <a:spcBef>
                <a:spcPts val="725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b="1" dirty="0">
                <a:solidFill>
                  <a:srgbClr val="000000"/>
                </a:solidFill>
                <a:latin typeface="Arial" charset="0"/>
              </a:rPr>
              <a:t>Acronyms</a:t>
            </a:r>
          </a:p>
          <a:p>
            <a:pPr hangingPunct="0">
              <a:lnSpc>
                <a:spcPct val="74000"/>
              </a:lnSpc>
              <a:spcBef>
                <a:spcPts val="725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1600" dirty="0">
              <a:solidFill>
                <a:srgbClr val="000000"/>
              </a:solidFill>
              <a:latin typeface="Arial" charset="0"/>
            </a:endParaRPr>
          </a:p>
          <a:p>
            <a:pPr hangingPunct="0">
              <a:lnSpc>
                <a:spcPct val="74000"/>
              </a:lnSpc>
              <a:spcBef>
                <a:spcPts val="725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dirty="0">
                <a:solidFill>
                  <a:srgbClr val="000000"/>
                </a:solidFill>
                <a:latin typeface="Arial" charset="0"/>
              </a:rPr>
              <a:t>AQP - Advanced Quality Planning</a:t>
            </a:r>
          </a:p>
          <a:p>
            <a:pPr hangingPunct="0">
              <a:lnSpc>
                <a:spcPct val="74000"/>
              </a:lnSpc>
              <a:spcBef>
                <a:spcPts val="725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dirty="0">
                <a:solidFill>
                  <a:srgbClr val="000000"/>
                </a:solidFill>
                <a:latin typeface="Arial" charset="0"/>
              </a:rPr>
              <a:t>SCO – Supply Chain Operations</a:t>
            </a:r>
          </a:p>
          <a:p>
            <a:pPr hangingPunct="0">
              <a:lnSpc>
                <a:spcPct val="74000"/>
              </a:lnSpc>
              <a:spcBef>
                <a:spcPts val="725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dirty="0">
                <a:solidFill>
                  <a:srgbClr val="000000"/>
                </a:solidFill>
                <a:latin typeface="Arial" charset="0"/>
              </a:rPr>
              <a:t>EM - External Manufacturer </a:t>
            </a:r>
          </a:p>
          <a:p>
            <a:pPr hangingPunct="0">
              <a:lnSpc>
                <a:spcPct val="74000"/>
              </a:lnSpc>
              <a:spcBef>
                <a:spcPts val="725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dirty="0">
                <a:solidFill>
                  <a:srgbClr val="000000"/>
                </a:solidFill>
                <a:latin typeface="Arial" charset="0"/>
              </a:rPr>
              <a:t>JDM - Joint Development Manufacturer </a:t>
            </a:r>
          </a:p>
          <a:p>
            <a:pPr hangingPunct="0">
              <a:lnSpc>
                <a:spcPct val="74000"/>
              </a:lnSpc>
              <a:spcBef>
                <a:spcPts val="725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dirty="0">
                <a:solidFill>
                  <a:srgbClr val="000000"/>
                </a:solidFill>
                <a:latin typeface="Arial" charset="0"/>
              </a:rPr>
              <a:t>ODM - Original Developer Manufacturer </a:t>
            </a:r>
          </a:p>
          <a:p>
            <a:pPr hangingPunct="0">
              <a:lnSpc>
                <a:spcPct val="74000"/>
              </a:lnSpc>
              <a:spcBef>
                <a:spcPts val="725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dirty="0">
                <a:solidFill>
                  <a:srgbClr val="000000"/>
                </a:solidFill>
                <a:latin typeface="Arial" charset="0"/>
              </a:rPr>
              <a:t>OEM - Original Equipment Manufacturer</a:t>
            </a:r>
          </a:p>
          <a:p>
            <a:pPr hangingPunct="0">
              <a:lnSpc>
                <a:spcPct val="74000"/>
              </a:lnSpc>
              <a:spcBef>
                <a:spcPts val="725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dirty="0">
                <a:solidFill>
                  <a:srgbClr val="000000"/>
                </a:solidFill>
                <a:latin typeface="Arial" charset="0"/>
              </a:rPr>
              <a:t>PD – Product Development (Fusion module) </a:t>
            </a:r>
          </a:p>
          <a:p>
            <a:pPr hangingPunct="0">
              <a:lnSpc>
                <a:spcPct val="74000"/>
              </a:lnSpc>
              <a:spcBef>
                <a:spcPts val="725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dirty="0">
                <a:solidFill>
                  <a:srgbClr val="000000"/>
                </a:solidFill>
                <a:latin typeface="Arial" charset="0"/>
              </a:rPr>
              <a:t>FAB - Fabrication </a:t>
            </a:r>
          </a:p>
          <a:p>
            <a:pPr hangingPunct="0">
              <a:lnSpc>
                <a:spcPct val="74000"/>
              </a:lnSpc>
              <a:spcBef>
                <a:spcPts val="725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dirty="0">
                <a:solidFill>
                  <a:srgbClr val="000000"/>
                </a:solidFill>
                <a:latin typeface="Arial" charset="0"/>
              </a:rPr>
              <a:t>ENCL - Enclosure </a:t>
            </a:r>
          </a:p>
          <a:p>
            <a:pPr hangingPunct="0">
              <a:lnSpc>
                <a:spcPct val="74000"/>
              </a:lnSpc>
              <a:spcBef>
                <a:spcPts val="725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dirty="0">
                <a:solidFill>
                  <a:srgbClr val="000000"/>
                </a:solidFill>
                <a:latin typeface="Arial" charset="0"/>
              </a:rPr>
              <a:t>PCBA - Printed Circuit Board Assembly </a:t>
            </a:r>
          </a:p>
          <a:p>
            <a:pPr hangingPunct="0">
              <a:lnSpc>
                <a:spcPct val="74000"/>
              </a:lnSpc>
              <a:spcBef>
                <a:spcPts val="725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dirty="0">
                <a:solidFill>
                  <a:srgbClr val="000000"/>
                </a:solidFill>
                <a:latin typeface="Arial" charset="0"/>
              </a:rPr>
              <a:t>ECO - Engineering Change Order</a:t>
            </a:r>
          </a:p>
          <a:p>
            <a:pPr hangingPunct="0">
              <a:lnSpc>
                <a:spcPct val="74000"/>
              </a:lnSpc>
              <a:spcBef>
                <a:spcPts val="725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dirty="0">
                <a:solidFill>
                  <a:srgbClr val="000000"/>
                </a:solidFill>
                <a:latin typeface="Arial" charset="0"/>
              </a:rPr>
              <a:t>HDD – Hard Disk Drive 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750DC593E51940B19CDE5A758E42AD" ma:contentTypeVersion="6" ma:contentTypeDescription="Create a new document." ma:contentTypeScope="" ma:versionID="733be0159944cdc3170dce3644f8ed13">
  <xsd:schema xmlns:xsd="http://www.w3.org/2001/XMLSchema" xmlns:xs="http://www.w3.org/2001/XMLSchema" xmlns:p="http://schemas.microsoft.com/office/2006/metadata/properties" xmlns:ns2="f085ca05-1a56-417b-bcef-25b3bd9988f8" xmlns:ns3="16634417-8341-485d-9449-549e9b96c858" targetNamespace="http://schemas.microsoft.com/office/2006/metadata/properties" ma:root="true" ma:fieldsID="113a26f8eec637953c551aab5fb25e41" ns2:_="" ns3:_="">
    <xsd:import namespace="f085ca05-1a56-417b-bcef-25b3bd9988f8"/>
    <xsd:import namespace="16634417-8341-485d-9449-549e9b96c858"/>
    <xsd:element name="properties">
      <xsd:complexType>
        <xsd:sequence>
          <xsd:element name="documentManagement">
            <xsd:complexType>
              <xsd:all>
                <xsd:element ref="ns2:IncludeInSearch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85ca05-1a56-417b-bcef-25b3bd9988f8" elementFormDefault="qualified">
    <xsd:import namespace="http://schemas.microsoft.com/office/2006/documentManagement/types"/>
    <xsd:import namespace="http://schemas.microsoft.com/office/infopath/2007/PartnerControls"/>
    <xsd:element name="IncludeInSearch" ma:index="8" nillable="true" ma:displayName="IncludeInMyOracleSearch" ma:default="1" ma:internalName="IncludeInSearch" ma:readOnly="fals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634417-8341-485d-9449-549e9b96c8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haredContentType xmlns="Microsoft.SharePoint.Taxonomy.ContentTypeSync" SourceId="4b6b08d2-6182-4197-8221-8710a9404ced" ContentTypeId="0x0101" PreviousValue="false"/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cludeInSearch xmlns="f085ca05-1a56-417b-bcef-25b3bd9988f8">true</IncludeInSearch>
  </documentManagement>
</p:properties>
</file>

<file path=customXml/itemProps1.xml><?xml version="1.0" encoding="utf-8"?>
<ds:datastoreItem xmlns:ds="http://schemas.openxmlformats.org/officeDocument/2006/customXml" ds:itemID="{E0E5CFDA-2EF4-4904-9EAE-83181E9CFB58}"/>
</file>

<file path=customXml/itemProps2.xml><?xml version="1.0" encoding="utf-8"?>
<ds:datastoreItem xmlns:ds="http://schemas.openxmlformats.org/officeDocument/2006/customXml" ds:itemID="{B3190AEB-D406-4818-80F0-C316B52F8547}"/>
</file>

<file path=customXml/itemProps3.xml><?xml version="1.0" encoding="utf-8"?>
<ds:datastoreItem xmlns:ds="http://schemas.openxmlformats.org/officeDocument/2006/customXml" ds:itemID="{C3170E6A-F6FC-4EDD-BDD1-311C91B1A4EF}"/>
</file>

<file path=customXml/itemProps4.xml><?xml version="1.0" encoding="utf-8"?>
<ds:datastoreItem xmlns:ds="http://schemas.openxmlformats.org/officeDocument/2006/customXml" ds:itemID="{E24F30E6-9232-4712-9DC8-BFBFF4C8DF69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6429</TotalTime>
  <Words>1067</Words>
  <Application>Microsoft Office PowerPoint</Application>
  <PresentationFormat>On-screen Show (4:3)</PresentationFormat>
  <Paragraphs>181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Times New Roman</vt:lpstr>
      <vt:lpstr>Trebuchet MS</vt:lpstr>
      <vt:lpstr>Wingdings 3</vt:lpstr>
      <vt:lpstr>Facet</vt:lpstr>
      <vt:lpstr>Advanced Quality Planning (AQP) Training   Oracle Confidential Restricted</vt:lpstr>
      <vt:lpstr>Advanced Quality Planning (AQP)</vt:lpstr>
      <vt:lpstr>Advanced Quality Planning (AQP)</vt:lpstr>
      <vt:lpstr>Advanced Quality Planning</vt:lpstr>
      <vt:lpstr>The AQP matrix – 913-3592</vt:lpstr>
      <vt:lpstr>AQP and Contracts</vt:lpstr>
      <vt:lpstr>AQP and Contracts</vt:lpstr>
      <vt:lpstr>AQP Initial Review</vt:lpstr>
      <vt:lpstr>Quality Exhibit</vt:lpstr>
      <vt:lpstr>Product Award Letter</vt:lpstr>
      <vt:lpstr>Advanced Quality Planning</vt:lpstr>
      <vt:lpstr>Accessing AQP documents before signing the contract</vt:lpstr>
      <vt:lpstr>Accessing AQP in Fusion</vt:lpstr>
      <vt:lpstr>AQP – Notification of Changes</vt:lpstr>
      <vt:lpstr>AQP – Changes and Contracts </vt:lpstr>
      <vt:lpstr>Acronyms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cbump</dc:creator>
  <dc:description>This presentation contains information proprietary to Oracle Corporation</dc:description>
  <cp:lastModifiedBy>Christine Bump</cp:lastModifiedBy>
  <cp:revision>99</cp:revision>
  <cp:lastPrinted>2010-03-12T16:43:06Z</cp:lastPrinted>
  <dcterms:created xsi:type="dcterms:W3CDTF">2010-03-12T16:43:06Z</dcterms:created>
  <dcterms:modified xsi:type="dcterms:W3CDTF">2025-07-07T19:46:46Z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6665055-977f-4acd-9884-1bec8e5ad200_Enabled">
    <vt:lpwstr>true</vt:lpwstr>
  </property>
  <property fmtid="{D5CDD505-2E9C-101B-9397-08002B2CF9AE}" pid="3" name="MSIP_Label_56665055-977f-4acd-9884-1bec8e5ad200_SetDate">
    <vt:lpwstr>2025-04-24T15:52:01Z</vt:lpwstr>
  </property>
  <property fmtid="{D5CDD505-2E9C-101B-9397-08002B2CF9AE}" pid="4" name="MSIP_Label_56665055-977f-4acd-9884-1bec8e5ad200_Method">
    <vt:lpwstr>Standard</vt:lpwstr>
  </property>
  <property fmtid="{D5CDD505-2E9C-101B-9397-08002B2CF9AE}" pid="5" name="MSIP_Label_56665055-977f-4acd-9884-1bec8e5ad200_Name">
    <vt:lpwstr>Anyone ( Unrestricted )</vt:lpwstr>
  </property>
  <property fmtid="{D5CDD505-2E9C-101B-9397-08002B2CF9AE}" pid="6" name="MSIP_Label_56665055-977f-4acd-9884-1bec8e5ad200_SiteId">
    <vt:lpwstr>4e2c6054-71cb-48f1-bd6c-3a9705aca71b</vt:lpwstr>
  </property>
  <property fmtid="{D5CDD505-2E9C-101B-9397-08002B2CF9AE}" pid="7" name="MSIP_Label_56665055-977f-4acd-9884-1bec8e5ad200_ActionId">
    <vt:lpwstr>e5ebcd9d-c7ae-4053-bc0d-3d7cb11ddf55</vt:lpwstr>
  </property>
  <property fmtid="{D5CDD505-2E9C-101B-9397-08002B2CF9AE}" pid="8" name="MSIP_Label_56665055-977f-4acd-9884-1bec8e5ad200_ContentBits">
    <vt:lpwstr>3</vt:lpwstr>
  </property>
  <property fmtid="{D5CDD505-2E9C-101B-9397-08002B2CF9AE}" pid="9" name="ClassificationContentMarkingFooterLocations">
    <vt:lpwstr>Facet:21</vt:lpwstr>
  </property>
  <property fmtid="{D5CDD505-2E9C-101B-9397-08002B2CF9AE}" pid="10" name="ClassificationContentMarkingFooterText">
    <vt:lpwstr>Confidential - Oracle Restricted</vt:lpwstr>
  </property>
  <property fmtid="{D5CDD505-2E9C-101B-9397-08002B2CF9AE}" pid="11" name="ClassificationContentMarkingHeaderLocations">
    <vt:lpwstr>Facet:20</vt:lpwstr>
  </property>
  <property fmtid="{D5CDD505-2E9C-101B-9397-08002B2CF9AE}" pid="12" name="ClassificationContentMarkingHeaderText">
    <vt:lpwstr>Confidential - Oracle Restricted</vt:lpwstr>
  </property>
  <property fmtid="{D5CDD505-2E9C-101B-9397-08002B2CF9AE}" pid="13" name="ContentTypeId">
    <vt:lpwstr>0x010100EC750DC593E51940B19CDE5A758E42AD</vt:lpwstr>
  </property>
</Properties>
</file>